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571"/>
  </p:normalViewPr>
  <p:slideViewPr>
    <p:cSldViewPr snapToGrid="0" snapToObjects="1">
      <p:cViewPr varScale="1">
        <p:scale>
          <a:sx n="115" d="100"/>
          <a:sy n="115" d="100"/>
        </p:scale>
        <p:origin x="4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5236" y="1012818"/>
            <a:ext cx="11001375" cy="1782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 b="0" i="0" u="none">
                <a:solidFill>
                  <a:schemeClr val="accent1"/>
                </a:solidFill>
                <a:latin typeface="Montserrat ExtraBold"/>
              </a:rPr>
              <a:t>KEYDIFF: Key Similarity-Based KV Cache Eviction for Long-Context LLM Inference in Resource-Constrained Environments</a:t>
            </a:r>
            <a:endParaRPr lang="en-US" sz="3900" b="0" i="0" u="none" dirty="0">
              <a:solidFill>
                <a:schemeClr val="accent1"/>
              </a:solidFill>
              <a:latin typeface="Montserrat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90912" y="3583185"/>
            <a:ext cx="5210175" cy="398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100" b="0" i="0" u="none">
                <a:latin typeface="Inter Medium"/>
              </a:rPr>
              <a:t>Aditya Pratap Singh Bhadoria (24114005)</a:t>
            </a:r>
            <a:endParaRPr lang="en-US" sz="2100" b="0" i="0" u="none" dirty="0">
              <a:latin typeface="Inter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62412" y="4105126"/>
            <a:ext cx="4067175" cy="398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100" b="0" i="0" u="none">
                <a:latin typeface="Inter Medium"/>
              </a:rPr>
              <a:t>Deokar Parth Rajesh (24114032)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7079" y="5008066"/>
            <a:ext cx="3677691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b="0" i="0" u="none">
                <a:solidFill>
                  <a:schemeClr val="accent5">
                    <a:lumMod val="50000"/>
                  </a:schemeClr>
                </a:solidFill>
                <a:latin typeface="Inter"/>
              </a:rPr>
              <a:t>Fundamentals of AI/ML (CSC-351)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352550"/>
            <a:ext cx="3365450" cy="537701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126" y="1352550"/>
            <a:ext cx="3365450" cy="53770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502" y="1352550"/>
            <a:ext cx="3365450" cy="53770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476250"/>
            <a:ext cx="11401425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0F172A"/>
                </a:solidFill>
                <a:latin typeface="Montserrat"/>
              </a:rPr>
              <a:t>Context &amp;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1133475"/>
            <a:ext cx="108585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2651" y="2736056"/>
            <a:ext cx="291364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1" i="0" u="none" dirty="0">
                <a:solidFill>
                  <a:srgbClr val="0F172A"/>
                </a:solidFill>
                <a:latin typeface="Montserrat"/>
              </a:rPr>
              <a:t>The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438525"/>
            <a:ext cx="2774900" cy="3291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34155"/>
                </a:solidFill>
                <a:latin typeface="Inter"/>
              </a:rPr>
              <a:t>Large Language Models utilize a Key-Value (KV) cache during autoregressive generation to store states from previously processed tokens, bypassing redundant calculations.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9028" y="2733380"/>
            <a:ext cx="291364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1" i="0" u="none" dirty="0">
                <a:solidFill>
                  <a:srgbClr val="0F172A"/>
                </a:solidFill>
                <a:latin typeface="Montserrat"/>
              </a:rPr>
              <a:t>The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8475" y="3438525"/>
            <a:ext cx="2774900" cy="2925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34155"/>
                </a:solidFill>
                <a:latin typeface="Inter"/>
              </a:rPr>
              <a:t>As the context window expands, the memory footprint required to store these historical tokens scales linearly, creating a severe hardware limitation for edge devices.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404" y="2733379"/>
            <a:ext cx="291364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1" i="0" u="none" dirty="0">
                <a:solidFill>
                  <a:srgbClr val="0F172A"/>
                </a:solidFill>
                <a:latin typeface="Montserrat"/>
              </a:rPr>
              <a:t>The Dilemma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4925" y="3438525"/>
            <a:ext cx="2774900" cy="2925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 dirty="0">
                <a:solidFill>
                  <a:srgbClr val="334155"/>
                </a:solidFill>
                <a:latin typeface="Inter"/>
              </a:rPr>
              <a:t>Enforcing a strict memory ceiling requires deleting older tokens. However, naive deletion (like discarding chronological data) often destroys critical contextual information.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349" y="1909763"/>
            <a:ext cx="476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726" y="1909763"/>
            <a:ext cx="476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4102" y="1909763"/>
            <a:ext cx="476250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130" y="1552575"/>
            <a:ext cx="5287119" cy="35072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50" y="352425"/>
            <a:ext cx="11401425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 dirty="0">
                <a:solidFill>
                  <a:srgbClr val="0F172A"/>
                </a:solidFill>
                <a:latin typeface="Montserrat"/>
              </a:rPr>
              <a:t>Proposed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50" y="1067693"/>
            <a:ext cx="108585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6750" y="1452429"/>
            <a:ext cx="509513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 dirty="0">
                <a:solidFill>
                  <a:srgbClr val="334155"/>
                </a:solidFill>
                <a:latin typeface="Inter"/>
              </a:rPr>
              <a:t>Instead of computing expensive full-attention scores, KEYDIFF evaluates the </a:t>
            </a:r>
            <a:r>
              <a:rPr sz="1800" b="1" i="0" u="none" dirty="0">
                <a:solidFill>
                  <a:srgbClr val="334155"/>
                </a:solidFill>
                <a:latin typeface="Inter"/>
              </a:rPr>
              <a:t>angular distinctiveness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of the cached vectors to filter out redundant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553" y="1952625"/>
            <a:ext cx="25812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Montserrat"/>
              </a:rPr>
              <a:t>CLUSTER CENTROID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352" y="2419350"/>
            <a:ext cx="1793825" cy="7602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29103" y="3751064"/>
            <a:ext cx="21621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Montserrat"/>
              </a:rPr>
              <a:t>EVICTION SCORE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330" y="4217789"/>
            <a:ext cx="4429869" cy="4420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0125" y="2852873"/>
            <a:ext cx="4761755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0F172A"/>
                </a:solidFill>
                <a:latin typeface="Inter"/>
              </a:rPr>
              <a:t>Centroid Calculation: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Compute the mean vector of all currently stored key features to locate the semantic center of the cache.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4111302"/>
            <a:ext cx="4761755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0F172A"/>
                </a:solidFill>
                <a:latin typeface="Inter"/>
              </a:rPr>
              <a:t>Divergence Scoring: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Measure the cosine similarity of each individual token against this calculated centroid.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5405571"/>
            <a:ext cx="6013992" cy="1083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0F172A"/>
                </a:solidFill>
                <a:latin typeface="Inter"/>
              </a:rPr>
              <a:t>Identify Redundancy: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Tokens that are highly similar to the centroid contain repetitive data. Outliers (dissimilar tokens) represent highly specific, vital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3192" y="5419774"/>
            <a:ext cx="4292057" cy="1083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0F172A"/>
                </a:solidFill>
                <a:latin typeface="Inter"/>
              </a:rPr>
              <a:t>Action: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Retain the distinct outliers and safely evict the tightly clustered, redundant tokens to satisfy memory constraints.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917011"/>
            <a:ext cx="1143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224" y="4191148"/>
            <a:ext cx="1143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5438825"/>
            <a:ext cx="11430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817" y="5438825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6750" y="245269"/>
            <a:ext cx="11401425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 dirty="0">
                <a:solidFill>
                  <a:srgbClr val="0F172A"/>
                </a:solidFill>
                <a:latin typeface="Montserrat"/>
              </a:rPr>
              <a:t>Implementation and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878383"/>
            <a:ext cx="108585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6750" y="5036540"/>
            <a:ext cx="11401425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0F172A"/>
                </a:solidFill>
                <a:latin typeface="Montserrat"/>
              </a:rPr>
              <a:t>Evaluation: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48" y="5339249"/>
            <a:ext cx="10858500" cy="33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A synthetic needle-in-a-haystack retrieval test was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48" y="5672289"/>
            <a:ext cx="10858500" cy="704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One distinctive key containing the answer was inserted among correlated distractor keys. After eviction, a query was used to check whether the correct information was still present.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1239290"/>
            <a:ext cx="5238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0000"/>
                </a:solidFill>
                <a:latin typeface="Montserrat"/>
              </a:rPr>
              <a:t>Implementation table: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608996"/>
              </p:ext>
            </p:extLst>
          </p:nvPr>
        </p:nvGraphicFramePr>
        <p:xfrm>
          <a:off x="666750" y="1658395"/>
          <a:ext cx="5238750" cy="3011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838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Montserrat"/>
                        </a:rPr>
                        <a:t>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Montserrat"/>
                        </a:rPr>
                        <a:t>Used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838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Language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Python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838"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Library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NumPy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838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Similarity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Cosine similarity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838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Cache policies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Full, Recent-token, KEYDIFF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838"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Cache 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Custom KV cache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86499" y="1239290"/>
            <a:ext cx="5238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0000"/>
                </a:solidFill>
                <a:latin typeface="Montserrat"/>
              </a:rPr>
              <a:t>Experiment Setup table: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686605"/>
              </p:ext>
            </p:extLst>
          </p:nvPr>
        </p:nvGraphicFramePr>
        <p:xfrm>
          <a:off x="6286499" y="1663524"/>
          <a:ext cx="5238749" cy="3011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8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0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146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Montserrat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Montserrat"/>
                        </a:rPr>
                        <a:t>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146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Prompt length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256 tokens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146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Key dimension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48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146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Cache budget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64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146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Block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16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146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Number of trials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100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149"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Random seed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20260823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750" y="291033"/>
            <a:ext cx="11401425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 dirty="0">
                <a:solidFill>
                  <a:srgbClr val="0F172A"/>
                </a:solidFill>
                <a:latin typeface="Montserrat"/>
              </a:rPr>
              <a:t>Results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50" y="900633"/>
            <a:ext cx="108585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781456"/>
              </p:ext>
            </p:extLst>
          </p:nvPr>
        </p:nvGraphicFramePr>
        <p:xfrm>
          <a:off x="666750" y="1148283"/>
          <a:ext cx="10858497" cy="2782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1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2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56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5734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Montserrat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0F172A"/>
                          </a:solidFill>
                          <a:latin typeface="Montserrat"/>
                        </a:rPr>
                        <a:t>Cache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0F172A"/>
                          </a:solidFill>
                          <a:latin typeface="Montserrat"/>
                        </a:rPr>
                        <a:t>Needle Retention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0F172A"/>
                          </a:solidFill>
                          <a:latin typeface="Montserrat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0F172A"/>
                          </a:solidFill>
                          <a:latin typeface="Montserrat"/>
                        </a:rPr>
                        <a:t>Runtime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734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334155"/>
                          </a:solidFill>
                          <a:latin typeface="Inter"/>
                        </a:rPr>
                        <a:t>Full Cache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256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0.272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734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334155"/>
                          </a:solidFill>
                          <a:latin typeface="Inter"/>
                        </a:rPr>
                        <a:t>Recent-token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64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DC2626"/>
                          </a:solidFill>
                          <a:latin typeface="Inter"/>
                        </a:rPr>
                        <a:t>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DC2626"/>
                          </a:solidFill>
                          <a:latin typeface="Inter"/>
                        </a:rPr>
                        <a:t>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0.308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735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334155"/>
                          </a:solidFill>
                          <a:latin typeface="Inter"/>
                        </a:rPr>
                        <a:t>KEYDIFF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Inter"/>
                        </a:rPr>
                        <a:t>64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16A34A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16A34A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1.026 </a:t>
                      </a:r>
                      <a:r>
                        <a:rPr sz="18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ms</a:t>
                      </a:r>
                      <a:endParaRPr sz="18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6750" y="4062935"/>
            <a:ext cx="1162285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E3A8A"/>
                </a:solidFill>
                <a:latin typeface="Montserrat"/>
              </a:rPr>
              <a:t>Observations &amp; Conclusion: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" y="1762645"/>
            <a:ext cx="23029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69716" y="1762645"/>
            <a:ext cx="2035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05685" y="1762645"/>
            <a:ext cx="29816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87307" y="1762645"/>
            <a:ext cx="18023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789616" y="1762645"/>
            <a:ext cx="17356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0124" y="4415360"/>
            <a:ext cx="10708655" cy="33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600" b="1" i="0" u="none" dirty="0">
                <a:solidFill>
                  <a:srgbClr val="0F172A"/>
                </a:solidFill>
                <a:latin typeface="Inter"/>
              </a:rPr>
              <a:t>KEYDIFF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reduced the cache from 256 to 64 tokens, representing a massive 75% reduction in total cache size constraint.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4" y="4764429"/>
            <a:ext cx="10708655" cy="711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Despite the severe memory bottleneck, KEYDIFF successfully retained the needle in all 100 trials, yielding a </a:t>
            </a:r>
            <a:r>
              <a:rPr sz="1600" b="1" i="0" u="none" dirty="0">
                <a:solidFill>
                  <a:srgbClr val="0F172A"/>
                </a:solidFill>
                <a:latin typeface="Inter"/>
              </a:rPr>
              <a:t>100% retrieval accuracy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in this simulation.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5500961"/>
            <a:ext cx="10708655" cy="339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The standard </a:t>
            </a:r>
            <a:r>
              <a:rPr sz="1600" b="1" i="0" u="none" dirty="0">
                <a:solidFill>
                  <a:srgbClr val="0F172A"/>
                </a:solidFill>
                <a:latin typeface="Inter"/>
              </a:rPr>
              <a:t>Recent-token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(sliding window) eviction completely failed to retain the crucial early context.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5834001"/>
            <a:ext cx="10708655" cy="711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KEYDIFF required slightly more computation time (1.026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ms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) due to the underlying cosine similarity math, providing an acceptable trade-off for perfect retention.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750" y="2480741"/>
            <a:ext cx="23029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69716" y="2480741"/>
            <a:ext cx="2035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05685" y="2480741"/>
            <a:ext cx="29816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87307" y="2480741"/>
            <a:ext cx="18023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789616" y="2480741"/>
            <a:ext cx="17356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6750" y="3198836"/>
            <a:ext cx="23029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69716" y="3198836"/>
            <a:ext cx="2035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05685" y="3198836"/>
            <a:ext cx="29816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87307" y="3198836"/>
            <a:ext cx="18023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789616" y="3198836"/>
            <a:ext cx="17356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66750" y="3916932"/>
            <a:ext cx="23029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969716" y="3916932"/>
            <a:ext cx="2035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05685" y="3916932"/>
            <a:ext cx="29816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87307" y="3916932"/>
            <a:ext cx="18023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789616" y="3916932"/>
            <a:ext cx="17356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4482035"/>
            <a:ext cx="123680" cy="2476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4815075"/>
            <a:ext cx="123680" cy="2476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5576519"/>
            <a:ext cx="123680" cy="2476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5940404"/>
            <a:ext cx="123680" cy="247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458</Words>
  <Application>Microsoft Macintosh PowerPoint</Application>
  <PresentationFormat>Widescreen</PresentationFormat>
  <Paragraphs>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Inter</vt:lpstr>
      <vt:lpstr>Inter Medium</vt:lpstr>
      <vt:lpstr>Montserrat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PRATAP SINGH BHADORIA (24114005)</cp:lastModifiedBy>
  <cp:revision>4</cp:revision>
  <dcterms:created xsi:type="dcterms:W3CDTF">2013-01-27T09:14:16Z</dcterms:created>
  <dcterms:modified xsi:type="dcterms:W3CDTF">2026-09-01T14:20:36Z</dcterms:modified>
  <cp:category/>
</cp:coreProperties>
</file>